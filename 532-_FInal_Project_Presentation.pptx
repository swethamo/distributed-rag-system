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3D901F5-EA43-4304-9E7F-69007B81D653}">
  <a:tblStyle styleId="{A3D901F5-EA43-4304-9E7F-69007B81D65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90cbc0b5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90cbc0b5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90cbc0b5c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90cbc0b5c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dde56fa2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dde56fa2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a90cbc0b5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a90cbc0b5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ae032924f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ae032924f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adde56fa2c_0_16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adde56fa2c_0_16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dde56fa2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adde56fa2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90cbc0b5c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a90cbc0b5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a90cbc0b5c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a90cbc0b5c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3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66"/>
              <a:t>Distributed Retrieval–Augmented Generation (RAG) System</a:t>
            </a:r>
            <a:endParaRPr sz="2966">
              <a:solidFill>
                <a:schemeClr val="dk2"/>
              </a:solidFill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120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91"/>
              <a:t>Eeshita Deepta</a:t>
            </a:r>
            <a:r>
              <a:rPr lang="en" sz="2191"/>
              <a:t>, Nithya Rajkumar, Swathy Anand, Swetha Mohan</a:t>
            </a:r>
            <a:endParaRPr sz="219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COMPSCI 532 - Fall 2025</a:t>
            </a:r>
            <a:endParaRPr sz="2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Description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666666"/>
                </a:solidFill>
              </a:rPr>
              <a:t>Distributed Semantic Search Over Large Text Corpora for RAG Systems</a:t>
            </a:r>
            <a:endParaRPr b="1" sz="1400">
              <a:solidFill>
                <a:srgbClr val="666666"/>
              </a:solidFill>
            </a:endParaRPr>
          </a:p>
          <a:p>
            <a:pPr indent="-3238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666666"/>
              </a:buClr>
              <a:buSzPts val="1500"/>
              <a:buChar char="●"/>
            </a:pPr>
            <a:r>
              <a:rPr lang="en" sz="1500">
                <a:solidFill>
                  <a:srgbClr val="666666"/>
                </a:solidFill>
              </a:rPr>
              <a:t>Built a system that converts a large AG News dataset into searchable vector embeddings using distributed processing</a:t>
            </a:r>
            <a:br>
              <a:rPr lang="en" sz="1500">
                <a:solidFill>
                  <a:srgbClr val="666666"/>
                </a:solidFill>
              </a:rPr>
            </a:br>
            <a:endParaRPr sz="1500">
              <a:solidFill>
                <a:srgbClr val="666666"/>
              </a:solidFill>
            </a:endParaRPr>
          </a:p>
          <a:p>
            <a:pPr indent="-3238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500"/>
              <a:buChar char="●"/>
            </a:pPr>
            <a:r>
              <a:rPr lang="en" sz="1500">
                <a:solidFill>
                  <a:srgbClr val="666666"/>
                </a:solidFill>
              </a:rPr>
              <a:t>Supports fast semantic retrieval by indexing document chunks with sharded FAISS</a:t>
            </a:r>
            <a:br>
              <a:rPr lang="en" sz="1500">
                <a:solidFill>
                  <a:srgbClr val="666666"/>
                </a:solidFill>
              </a:rPr>
            </a:br>
            <a:endParaRPr sz="1500">
              <a:solidFill>
                <a:srgbClr val="666666"/>
              </a:solidFill>
            </a:endParaRPr>
          </a:p>
          <a:p>
            <a:pPr indent="-3238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500"/>
              <a:buChar char="●"/>
            </a:pPr>
            <a:r>
              <a:rPr lang="en" sz="1500">
                <a:solidFill>
                  <a:srgbClr val="666666"/>
                </a:solidFill>
              </a:rPr>
              <a:t>Allows answering user queries by retrieving the most relevant text passages</a:t>
            </a:r>
            <a:br>
              <a:rPr lang="en" sz="1500">
                <a:solidFill>
                  <a:srgbClr val="666666"/>
                </a:solidFill>
              </a:rPr>
            </a:br>
            <a:endParaRPr sz="1500">
              <a:solidFill>
                <a:srgbClr val="666666"/>
              </a:solidFill>
            </a:endParaRPr>
          </a:p>
          <a:p>
            <a:pPr indent="-3238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500"/>
              <a:buChar char="●"/>
            </a:pPr>
            <a:r>
              <a:rPr lang="en" sz="1500">
                <a:solidFill>
                  <a:srgbClr val="666666"/>
                </a:solidFill>
              </a:rPr>
              <a:t>Forms the retrieval backbone for Retrieval-Augmented Generation (RAG) applications</a:t>
            </a:r>
            <a:endParaRPr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Description 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38750" y="1135025"/>
            <a:ext cx="8321700" cy="33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rgbClr val="666666"/>
                </a:solidFill>
              </a:rPr>
              <a:t>System Overview / Data Flow</a:t>
            </a:r>
            <a:endParaRPr b="1" sz="1400">
              <a:solidFill>
                <a:srgbClr val="666666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666666"/>
              </a:buClr>
              <a:buSzPts val="1400"/>
              <a:buChar char="●"/>
            </a:pPr>
            <a:r>
              <a:rPr lang="en" sz="1400">
                <a:solidFill>
                  <a:srgbClr val="666666"/>
                </a:solidFill>
              </a:rPr>
              <a:t>Stream and clean raw corpus</a:t>
            </a:r>
            <a:endParaRPr sz="1400">
              <a:solidFill>
                <a:srgbClr val="666666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Char char="●"/>
            </a:pPr>
            <a:r>
              <a:rPr lang="en" sz="1400">
                <a:solidFill>
                  <a:srgbClr val="666666"/>
                </a:solidFill>
              </a:rPr>
              <a:t>Chunk text into overlapping passages</a:t>
            </a:r>
            <a:endParaRPr sz="1400">
              <a:solidFill>
                <a:srgbClr val="666666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Char char="●"/>
            </a:pPr>
            <a:r>
              <a:rPr lang="en" sz="1400">
                <a:solidFill>
                  <a:srgbClr val="666666"/>
                </a:solidFill>
              </a:rPr>
              <a:t>Distribute chunks across Spark executors</a:t>
            </a:r>
            <a:endParaRPr sz="1400">
              <a:solidFill>
                <a:srgbClr val="666666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Char char="●"/>
            </a:pPr>
            <a:r>
              <a:rPr lang="en" sz="1400">
                <a:solidFill>
                  <a:srgbClr val="666666"/>
                </a:solidFill>
              </a:rPr>
              <a:t>Each executor embeds text using a shared SentenceTransformer model</a:t>
            </a:r>
            <a:endParaRPr sz="1400">
              <a:solidFill>
                <a:srgbClr val="666666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Char char="●"/>
            </a:pPr>
            <a:r>
              <a:rPr lang="en" sz="1400">
                <a:solidFill>
                  <a:srgbClr val="666666"/>
                </a:solidFill>
              </a:rPr>
              <a:t>Store embeddings as Parquet; build FAISS index shards</a:t>
            </a:r>
            <a:endParaRPr sz="1400">
              <a:solidFill>
                <a:srgbClr val="666666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Char char="●"/>
            </a:pPr>
            <a:r>
              <a:rPr lang="en" sz="1400">
                <a:solidFill>
                  <a:srgbClr val="666666"/>
                </a:solidFill>
              </a:rPr>
              <a:t>Queries run in parallel on shards → merged top-k results</a:t>
            </a:r>
            <a:endParaRPr sz="1400">
              <a:solidFill>
                <a:srgbClr val="666666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666666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" sz="1400">
                <a:solidFill>
                  <a:srgbClr val="666666"/>
                </a:solidFill>
              </a:rPr>
              <a:t>Raw Text → Chunking → Spark Embedding → FAISS Shards → Distributed Query → Results</a:t>
            </a:r>
            <a:endParaRPr sz="209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Description 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38750" y="1135025"/>
            <a:ext cx="4659300" cy="405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666666"/>
                </a:solidFill>
              </a:rPr>
              <a:t>Key Design Decisions</a:t>
            </a:r>
            <a:endParaRPr b="1" sz="1500">
              <a:solidFill>
                <a:srgbClr val="666666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666666"/>
              </a:buClr>
              <a:buSzPts val="1300"/>
              <a:buChar char="●"/>
            </a:pPr>
            <a:r>
              <a:rPr lang="en" sz="1300">
                <a:solidFill>
                  <a:srgbClr val="666666"/>
                </a:solidFill>
              </a:rPr>
              <a:t>Used </a:t>
            </a:r>
            <a:r>
              <a:rPr b="1" lang="en" sz="1300">
                <a:solidFill>
                  <a:srgbClr val="666666"/>
                </a:solidFill>
              </a:rPr>
              <a:t>mapPartitions</a:t>
            </a:r>
            <a:r>
              <a:rPr lang="en" sz="1300">
                <a:solidFill>
                  <a:srgbClr val="666666"/>
                </a:solidFill>
              </a:rPr>
              <a:t> so each worker loads the embedding model only once</a:t>
            </a:r>
            <a:endParaRPr sz="1300">
              <a:solidFill>
                <a:srgbClr val="666666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Char char="●"/>
            </a:pPr>
            <a:r>
              <a:rPr lang="en" sz="1300">
                <a:solidFill>
                  <a:srgbClr val="666666"/>
                </a:solidFill>
              </a:rPr>
              <a:t>Chose </a:t>
            </a:r>
            <a:r>
              <a:rPr b="1" lang="en" sz="1300">
                <a:solidFill>
                  <a:srgbClr val="666666"/>
                </a:solidFill>
              </a:rPr>
              <a:t>FAISS IndexFlatIP</a:t>
            </a:r>
            <a:r>
              <a:rPr lang="en" sz="1300">
                <a:solidFill>
                  <a:srgbClr val="666666"/>
                </a:solidFill>
              </a:rPr>
              <a:t> for fast, training-free, shard-friendly indexing</a:t>
            </a:r>
            <a:endParaRPr sz="1300">
              <a:solidFill>
                <a:srgbClr val="666666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Char char="●"/>
            </a:pPr>
            <a:r>
              <a:rPr lang="en" sz="1300">
                <a:solidFill>
                  <a:srgbClr val="666666"/>
                </a:solidFill>
              </a:rPr>
              <a:t>Stored all intermediate outputs in </a:t>
            </a:r>
            <a:r>
              <a:rPr b="1" lang="en" sz="1300">
                <a:solidFill>
                  <a:srgbClr val="666666"/>
                </a:solidFill>
              </a:rPr>
              <a:t>Parquet</a:t>
            </a:r>
            <a:r>
              <a:rPr lang="en" sz="1300">
                <a:solidFill>
                  <a:srgbClr val="666666"/>
                </a:solidFill>
              </a:rPr>
              <a:t> for efficient distributed processing</a:t>
            </a:r>
            <a:endParaRPr sz="13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666666"/>
                </a:solidFill>
              </a:rPr>
              <a:t>Trade-offs</a:t>
            </a:r>
            <a:endParaRPr b="1" sz="1500">
              <a:solidFill>
                <a:srgbClr val="666666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666666"/>
              </a:buClr>
              <a:buSzPts val="1300"/>
              <a:buChar char="●"/>
            </a:pPr>
            <a:r>
              <a:rPr lang="en" sz="1300">
                <a:solidFill>
                  <a:srgbClr val="666666"/>
                </a:solidFill>
              </a:rPr>
              <a:t>CPU-only embedding slower but easier to parallelize</a:t>
            </a:r>
            <a:endParaRPr sz="1300">
              <a:solidFill>
                <a:srgbClr val="666666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Char char="●"/>
            </a:pPr>
            <a:r>
              <a:rPr lang="en" sz="1300">
                <a:solidFill>
                  <a:srgbClr val="666666"/>
                </a:solidFill>
              </a:rPr>
              <a:t>Chunk overlap improves retrieval quality but increases data size</a:t>
            </a:r>
            <a:endParaRPr sz="1300">
              <a:solidFill>
                <a:srgbClr val="666666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Char char="●"/>
            </a:pPr>
            <a:r>
              <a:rPr lang="en" sz="1300">
                <a:solidFill>
                  <a:srgbClr val="666666"/>
                </a:solidFill>
              </a:rPr>
              <a:t>Many partitions → more parallelism but slightly higher merge overhead</a:t>
            </a:r>
            <a:br>
              <a:rPr lang="en" sz="1300">
                <a:solidFill>
                  <a:srgbClr val="666666"/>
                </a:solidFill>
              </a:rPr>
            </a:br>
            <a:endParaRPr sz="13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500">
              <a:solidFill>
                <a:srgbClr val="666666"/>
              </a:solidFill>
            </a:endParaRPr>
          </a:p>
        </p:txBody>
      </p:sp>
      <p:sp>
        <p:nvSpPr>
          <p:cNvPr id="74" name="Google Shape;74;p16"/>
          <p:cNvSpPr txBox="1"/>
          <p:nvPr/>
        </p:nvSpPr>
        <p:spPr>
          <a:xfrm>
            <a:off x="5579700" y="1135025"/>
            <a:ext cx="3252600" cy="19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666666"/>
                </a:solidFill>
              </a:rPr>
              <a:t>Accomplishments</a:t>
            </a:r>
            <a:endParaRPr b="1" sz="1500">
              <a:solidFill>
                <a:srgbClr val="666666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666666"/>
              </a:buClr>
              <a:buSzPts val="1300"/>
              <a:buChar char="●"/>
            </a:pPr>
            <a:r>
              <a:rPr lang="en" sz="1300">
                <a:solidFill>
                  <a:srgbClr val="666666"/>
                </a:solidFill>
              </a:rPr>
              <a:t>Fully distributed end-to-end pipeline</a:t>
            </a:r>
            <a:endParaRPr sz="1300">
              <a:solidFill>
                <a:srgbClr val="666666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Char char="●"/>
            </a:pPr>
            <a:r>
              <a:rPr lang="en" sz="1300">
                <a:solidFill>
                  <a:srgbClr val="666666"/>
                </a:solidFill>
              </a:rPr>
              <a:t>Low-latency distributed ANN search</a:t>
            </a:r>
            <a:endParaRPr sz="1300">
              <a:solidFill>
                <a:srgbClr val="666666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Char char="●"/>
            </a:pPr>
            <a:r>
              <a:rPr lang="en" sz="1300">
                <a:solidFill>
                  <a:srgbClr val="666666"/>
                </a:solidFill>
              </a:rPr>
              <a:t>Successfully scaled on both laptop and GCP cluster</a:t>
            </a:r>
            <a:endParaRPr sz="130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Tests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972524"/>
            <a:ext cx="4593600" cy="465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rgbClr val="666666"/>
                </a:solidFill>
              </a:rPr>
              <a:t>Sanity Checks</a:t>
            </a:r>
            <a:endParaRPr b="1" sz="1500">
              <a:solidFill>
                <a:srgbClr val="666666"/>
              </a:solidFill>
            </a:endParaRPr>
          </a:p>
          <a:p>
            <a:pPr indent="-311150" lvl="0" marL="457200" rtl="0" algn="l">
              <a:spcBef>
                <a:spcPts val="400"/>
              </a:spcBef>
              <a:spcAft>
                <a:spcPts val="0"/>
              </a:spcAft>
              <a:buClr>
                <a:srgbClr val="666666"/>
              </a:buClr>
              <a:buSzPts val="1300"/>
              <a:buChar char="●"/>
            </a:pPr>
            <a:r>
              <a:rPr lang="en" sz="1300">
                <a:solidFill>
                  <a:srgbClr val="666666"/>
                </a:solidFill>
              </a:rPr>
              <a:t>Queried known facts (e.g., </a:t>
            </a:r>
            <a:r>
              <a:rPr i="1" lang="en" sz="1300">
                <a:solidFill>
                  <a:srgbClr val="666666"/>
                </a:solidFill>
              </a:rPr>
              <a:t>“What is the capital of France?”</a:t>
            </a:r>
            <a:r>
              <a:rPr lang="en" sz="1300">
                <a:solidFill>
                  <a:srgbClr val="666666"/>
                </a:solidFill>
              </a:rPr>
              <a:t>) and verified top-k chunks referenced </a:t>
            </a:r>
            <a:r>
              <a:rPr b="1" lang="en" sz="1300">
                <a:solidFill>
                  <a:srgbClr val="666666"/>
                </a:solidFill>
              </a:rPr>
              <a:t>Paris</a:t>
            </a:r>
            <a:endParaRPr b="1" sz="1300">
              <a:solidFill>
                <a:srgbClr val="666666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Char char="●"/>
            </a:pPr>
            <a:r>
              <a:rPr lang="en" sz="1300">
                <a:solidFill>
                  <a:srgbClr val="666666"/>
                </a:solidFill>
              </a:rPr>
              <a:t>Checked that chunking produced </a:t>
            </a:r>
            <a:r>
              <a:rPr b="1" lang="en" sz="1300">
                <a:solidFill>
                  <a:srgbClr val="666666"/>
                </a:solidFill>
              </a:rPr>
              <a:t>non-empty</a:t>
            </a:r>
            <a:r>
              <a:rPr lang="en" sz="1300">
                <a:solidFill>
                  <a:srgbClr val="666666"/>
                </a:solidFill>
              </a:rPr>
              <a:t>, correctly overlapped passages</a:t>
            </a:r>
            <a:endParaRPr sz="1300">
              <a:solidFill>
                <a:srgbClr val="666666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Char char="●"/>
            </a:pPr>
            <a:r>
              <a:rPr lang="en" sz="1300">
                <a:solidFill>
                  <a:srgbClr val="666666"/>
                </a:solidFill>
              </a:rPr>
              <a:t>Verified embedding vectors were normalized and correct dimension</a:t>
            </a:r>
            <a:br>
              <a:rPr lang="en" sz="1300">
                <a:solidFill>
                  <a:srgbClr val="666666"/>
                </a:solidFill>
              </a:rPr>
            </a:br>
            <a:endParaRPr sz="13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666666"/>
                </a:solidFill>
              </a:rPr>
              <a:t>Correctness Tests</a:t>
            </a:r>
            <a:endParaRPr b="1" sz="1500">
              <a:solidFill>
                <a:srgbClr val="666666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666666"/>
              </a:buClr>
              <a:buSzPts val="1300"/>
              <a:buChar char="●"/>
            </a:pPr>
            <a:r>
              <a:rPr lang="en" sz="1300">
                <a:solidFill>
                  <a:srgbClr val="666666"/>
                </a:solidFill>
              </a:rPr>
              <a:t>Compared </a:t>
            </a:r>
            <a:r>
              <a:rPr b="1" lang="en" sz="1300">
                <a:solidFill>
                  <a:srgbClr val="666666"/>
                </a:solidFill>
              </a:rPr>
              <a:t>distributed ANN top-1</a:t>
            </a:r>
            <a:r>
              <a:rPr lang="en" sz="1300">
                <a:solidFill>
                  <a:srgbClr val="666666"/>
                </a:solidFill>
              </a:rPr>
              <a:t> results with </a:t>
            </a:r>
            <a:r>
              <a:rPr b="1" lang="en" sz="1300">
                <a:solidFill>
                  <a:srgbClr val="666666"/>
                </a:solidFill>
              </a:rPr>
              <a:t>brute-force cosine similarity</a:t>
            </a:r>
            <a:r>
              <a:rPr lang="en" sz="1300">
                <a:solidFill>
                  <a:srgbClr val="666666"/>
                </a:solidFill>
              </a:rPr>
              <a:t> on a 2,000-row sample</a:t>
            </a:r>
            <a:endParaRPr sz="1300">
              <a:solidFill>
                <a:srgbClr val="666666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Char char="●"/>
            </a:pPr>
            <a:r>
              <a:rPr lang="en" sz="1300">
                <a:solidFill>
                  <a:srgbClr val="666666"/>
                </a:solidFill>
              </a:rPr>
              <a:t>High agreement (≈90–100%) confirmed correct FAISS shard search + merge logic</a:t>
            </a:r>
            <a:br>
              <a:rPr lang="en" sz="1300">
                <a:solidFill>
                  <a:srgbClr val="666666"/>
                </a:solidFill>
              </a:rPr>
            </a:br>
            <a:r>
              <a:rPr lang="en" sz="1300">
                <a:solidFill>
                  <a:srgbClr val="666666"/>
                </a:solidFill>
              </a:rPr>
              <a:t>Verified FAISS local IDs correctly mapped to original text via shard mapping files</a:t>
            </a:r>
            <a:br>
              <a:rPr lang="en" sz="1300">
                <a:solidFill>
                  <a:srgbClr val="666666"/>
                </a:solidFill>
              </a:rPr>
            </a:br>
            <a:endParaRPr sz="13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666666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t/>
            </a:r>
            <a:endParaRPr b="1" sz="1525">
              <a:solidFill>
                <a:srgbClr val="666666"/>
              </a:solidFill>
            </a:endParaRPr>
          </a:p>
        </p:txBody>
      </p:sp>
      <p:sp>
        <p:nvSpPr>
          <p:cNvPr id="81" name="Google Shape;81;p17"/>
          <p:cNvSpPr txBox="1"/>
          <p:nvPr/>
        </p:nvSpPr>
        <p:spPr>
          <a:xfrm>
            <a:off x="4989825" y="908825"/>
            <a:ext cx="3990600" cy="41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666666"/>
                </a:solidFill>
              </a:rPr>
              <a:t>Performance Trends</a:t>
            </a:r>
            <a:endParaRPr b="1" sz="1500">
              <a:solidFill>
                <a:srgbClr val="666666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666666"/>
              </a:buClr>
              <a:buSzPts val="1300"/>
              <a:buChar char="●"/>
            </a:pPr>
            <a:r>
              <a:rPr lang="en" sz="1300">
                <a:solidFill>
                  <a:srgbClr val="666666"/>
                </a:solidFill>
              </a:rPr>
              <a:t>Larger datasets produced </a:t>
            </a:r>
            <a:r>
              <a:rPr b="1" lang="en" sz="1300">
                <a:solidFill>
                  <a:srgbClr val="666666"/>
                </a:solidFill>
              </a:rPr>
              <a:t>better embedding throughput</a:t>
            </a:r>
            <a:r>
              <a:rPr lang="en" sz="1300">
                <a:solidFill>
                  <a:srgbClr val="666666"/>
                </a:solidFill>
              </a:rPr>
              <a:t> (improved batching)</a:t>
            </a:r>
            <a:endParaRPr sz="1300">
              <a:solidFill>
                <a:srgbClr val="666666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Char char="●"/>
            </a:pPr>
            <a:r>
              <a:rPr lang="en" sz="1300">
                <a:solidFill>
                  <a:srgbClr val="666666"/>
                </a:solidFill>
              </a:rPr>
              <a:t>Query latency remained consistently </a:t>
            </a:r>
            <a:r>
              <a:rPr b="1" lang="en" sz="1300">
                <a:solidFill>
                  <a:srgbClr val="666666"/>
                </a:solidFill>
              </a:rPr>
              <a:t>low (&lt;3 ms)</a:t>
            </a:r>
            <a:r>
              <a:rPr lang="en" sz="1300">
                <a:solidFill>
                  <a:srgbClr val="666666"/>
                </a:solidFill>
              </a:rPr>
              <a:t> across all scales</a:t>
            </a:r>
            <a:endParaRPr sz="1300">
              <a:solidFill>
                <a:srgbClr val="666666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Char char="●"/>
            </a:pPr>
            <a:r>
              <a:rPr lang="en" sz="1300">
                <a:solidFill>
                  <a:srgbClr val="666666"/>
                </a:solidFill>
              </a:rPr>
              <a:t>FAISS index building time scaled </a:t>
            </a:r>
            <a:r>
              <a:rPr b="1" lang="en" sz="1300">
                <a:solidFill>
                  <a:srgbClr val="666666"/>
                </a:solidFill>
              </a:rPr>
              <a:t>linearly</a:t>
            </a:r>
            <a:r>
              <a:rPr lang="en" sz="1300">
                <a:solidFill>
                  <a:srgbClr val="666666"/>
                </a:solidFill>
              </a:rPr>
              <a:t> with shard size</a:t>
            </a:r>
            <a:br>
              <a:rPr lang="en" sz="1300">
                <a:solidFill>
                  <a:srgbClr val="666666"/>
                </a:solidFill>
              </a:rPr>
            </a:br>
            <a:endParaRPr sz="1300">
              <a:solidFill>
                <a:srgbClr val="66666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666666"/>
                </a:solidFill>
              </a:rPr>
              <a:t>Unit / Component Tests</a:t>
            </a:r>
            <a:endParaRPr b="1" sz="1500">
              <a:solidFill>
                <a:srgbClr val="666666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666666"/>
              </a:buClr>
              <a:buSzPts val="1300"/>
              <a:buChar char="●"/>
            </a:pPr>
            <a:r>
              <a:rPr lang="en" sz="1300">
                <a:solidFill>
                  <a:srgbClr val="666666"/>
                </a:solidFill>
              </a:rPr>
              <a:t>Tested partition-level embedding functions (mapPartitions)</a:t>
            </a:r>
            <a:endParaRPr sz="1300">
              <a:solidFill>
                <a:srgbClr val="666666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Char char="●"/>
            </a:pPr>
            <a:r>
              <a:rPr lang="en" sz="1300">
                <a:solidFill>
                  <a:srgbClr val="666666"/>
                </a:solidFill>
              </a:rPr>
              <a:t>Verified each FAISS shard loads, searches, and returns valid top-k candidates</a:t>
            </a:r>
            <a:br>
              <a:rPr lang="en" sz="1300">
                <a:solidFill>
                  <a:srgbClr val="666666"/>
                </a:solidFill>
              </a:rPr>
            </a:br>
            <a:r>
              <a:rPr lang="en" sz="1300">
                <a:solidFill>
                  <a:srgbClr val="666666"/>
                </a:solidFill>
              </a:rPr>
              <a:t>Checked manifest and mapping parquet consistency across shards</a:t>
            </a:r>
            <a:endParaRPr sz="130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Experimental Results</a:t>
            </a:r>
            <a:endParaRPr/>
          </a:p>
        </p:txBody>
      </p:sp>
      <p:pic>
        <p:nvPicPr>
          <p:cNvPr id="87" name="Google Shape;8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614525"/>
            <a:ext cx="2941600" cy="2361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77950" y="1583050"/>
            <a:ext cx="3092388" cy="242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62383" y="1578175"/>
            <a:ext cx="3108042" cy="242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116025" y="2168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Experimental Results</a:t>
            </a:r>
            <a:endParaRPr/>
          </a:p>
        </p:txBody>
      </p:sp>
      <p:graphicFrame>
        <p:nvGraphicFramePr>
          <p:cNvPr id="95" name="Google Shape;95;p19"/>
          <p:cNvGraphicFramePr/>
          <p:nvPr/>
        </p:nvGraphicFramePr>
        <p:xfrm>
          <a:off x="116025" y="1406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{A3D901F5-EA43-4304-9E7F-69007B81D653}</a:tableStyleId>
              </a:tblPr>
              <a:tblGrid>
                <a:gridCol w="762650"/>
                <a:gridCol w="2257425"/>
                <a:gridCol w="1666875"/>
                <a:gridCol w="2200275"/>
                <a:gridCol w="2077125"/>
              </a:tblGrid>
              <a:tr h="4594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Dataset Size</a:t>
                      </a:r>
                      <a:endParaRPr b="1"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GCP Cluster – Embedding Time (s)</a:t>
                      </a:r>
                      <a:endParaRPr b="1"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GCP Throughput (rows/s)</a:t>
                      </a:r>
                      <a:endParaRPr b="1"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Single Node – Embedding Time (s)</a:t>
                      </a:r>
                      <a:endParaRPr b="1"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/>
                        <a:t>Single Node Throughput (rows/s)</a:t>
                      </a:r>
                      <a:endParaRPr b="1"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5K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96.0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52.1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371.51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13.5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10K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135.8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73.7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646.59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15.5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120K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2182.7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55.0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6708.42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17.9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6" name="Google Shape;96;p19"/>
          <p:cNvGraphicFramePr/>
          <p:nvPr/>
        </p:nvGraphicFramePr>
        <p:xfrm>
          <a:off x="116013" y="3421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{A3D901F5-EA43-4304-9E7F-69007B81D653}</a:tableStyleId>
              </a:tblPr>
              <a:tblGrid>
                <a:gridCol w="953650"/>
                <a:gridCol w="2064375"/>
                <a:gridCol w="2614150"/>
                <a:gridCol w="3332175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Dataset Size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GCP FAISS Build Time (s)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Single Node FAISS Build Time (s)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Notes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5K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0.0020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33.94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GCP uses </a:t>
                      </a:r>
                      <a:r>
                        <a:rPr b="1" lang="en" sz="1100"/>
                        <a:t>1 shard</a:t>
                      </a:r>
                      <a:r>
                        <a:rPr lang="en" sz="1100"/>
                        <a:t>, single-node built </a:t>
                      </a:r>
                      <a:r>
                        <a:rPr b="1" lang="en" sz="1100"/>
                        <a:t>8 shards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10K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0.0123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6.18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Same: distributed vs multi-shard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120K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0.0273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21.07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GCP extremely fast due to CPU vectorization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7" name="Google Shape;97;p19"/>
          <p:cNvSpPr txBox="1"/>
          <p:nvPr>
            <p:ph type="title"/>
          </p:nvPr>
        </p:nvSpPr>
        <p:spPr>
          <a:xfrm>
            <a:off x="26188" y="3037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520"/>
              <a:t>FAISS Index Build Time</a:t>
            </a:r>
            <a:endParaRPr b="1" sz="1520"/>
          </a:p>
        </p:txBody>
      </p:sp>
      <p:sp>
        <p:nvSpPr>
          <p:cNvPr id="98" name="Google Shape;98;p19"/>
          <p:cNvSpPr txBox="1"/>
          <p:nvPr>
            <p:ph type="title"/>
          </p:nvPr>
        </p:nvSpPr>
        <p:spPr>
          <a:xfrm>
            <a:off x="78588" y="10177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520"/>
              <a:t>Embedding Performance</a:t>
            </a:r>
            <a:endParaRPr sz="152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Experimental Results</a:t>
            </a:r>
            <a:endParaRPr/>
          </a:p>
        </p:txBody>
      </p:sp>
      <p:pic>
        <p:nvPicPr>
          <p:cNvPr id="104" name="Google Shape;10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050" y="1240725"/>
            <a:ext cx="3900625" cy="3156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99400" y="1223056"/>
            <a:ext cx="4124600" cy="323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Goals</a:t>
            </a:r>
            <a:endParaRPr/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700"/>
              <a:buChar char="●"/>
            </a:pPr>
            <a:r>
              <a:rPr lang="en" sz="1700">
                <a:solidFill>
                  <a:srgbClr val="00FF00"/>
                </a:solidFill>
              </a:rPr>
              <a:t>COMPLETE </a:t>
            </a:r>
            <a:r>
              <a:rPr lang="en" sz="1700">
                <a:solidFill>
                  <a:srgbClr val="666666"/>
                </a:solidFill>
              </a:rPr>
              <a:t>— </a:t>
            </a:r>
            <a:r>
              <a:rPr b="1" lang="en" sz="1700">
                <a:solidFill>
                  <a:srgbClr val="666666"/>
                </a:solidFill>
              </a:rPr>
              <a:t>Data Preparation: </a:t>
            </a:r>
            <a:r>
              <a:rPr lang="en" sz="1700">
                <a:solidFill>
                  <a:srgbClr val="666666"/>
                </a:solidFill>
              </a:rPr>
              <a:t>Collected and preprocessed large-scale text corpus in HDFS / Parquet</a:t>
            </a:r>
            <a:endParaRPr sz="1700">
              <a:solidFill>
                <a:srgbClr val="666666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●"/>
            </a:pPr>
            <a:r>
              <a:rPr lang="en" sz="1700">
                <a:solidFill>
                  <a:srgbClr val="00FF00"/>
                </a:solidFill>
              </a:rPr>
              <a:t>COMPLETE </a:t>
            </a:r>
            <a:r>
              <a:rPr lang="en" sz="1700">
                <a:solidFill>
                  <a:srgbClr val="666666"/>
                </a:solidFill>
              </a:rPr>
              <a:t>— </a:t>
            </a:r>
            <a:r>
              <a:rPr b="1" lang="en" sz="1700">
                <a:solidFill>
                  <a:srgbClr val="666666"/>
                </a:solidFill>
              </a:rPr>
              <a:t>Distributed Embedding Generation: </a:t>
            </a:r>
            <a:r>
              <a:rPr lang="en" sz="1700">
                <a:solidFill>
                  <a:srgbClr val="666666"/>
                </a:solidFill>
              </a:rPr>
              <a:t>Implemented  distributed embedding generation using PySpark + PyTorch (mapPartitions) and measure throughput</a:t>
            </a:r>
            <a:endParaRPr sz="1700">
              <a:solidFill>
                <a:srgbClr val="666666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●"/>
            </a:pPr>
            <a:r>
              <a:rPr lang="en" sz="1700">
                <a:solidFill>
                  <a:srgbClr val="00FF00"/>
                </a:solidFill>
              </a:rPr>
              <a:t>COMPLETE</a:t>
            </a:r>
            <a:r>
              <a:rPr lang="en" sz="1700">
                <a:solidFill>
                  <a:srgbClr val="666666"/>
                </a:solidFill>
              </a:rPr>
              <a:t>— </a:t>
            </a:r>
            <a:r>
              <a:rPr b="1" lang="en" sz="1700">
                <a:solidFill>
                  <a:srgbClr val="666666"/>
                </a:solidFill>
              </a:rPr>
              <a:t>Index Construction: </a:t>
            </a:r>
            <a:r>
              <a:rPr lang="en" sz="1700">
                <a:solidFill>
                  <a:srgbClr val="666666"/>
                </a:solidFill>
              </a:rPr>
              <a:t>Built distributed FAISS index shards and perform parallel ANN retrieval with global top-k merging</a:t>
            </a:r>
            <a:endParaRPr sz="1700">
              <a:solidFill>
                <a:srgbClr val="666666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400"/>
              </a:spcBef>
              <a:spcAft>
                <a:spcPts val="1000"/>
              </a:spcAft>
              <a:buSzPts val="1700"/>
              <a:buChar char="●"/>
            </a:pPr>
            <a:r>
              <a:rPr lang="en" sz="1700">
                <a:solidFill>
                  <a:srgbClr val="00FF00"/>
                </a:solidFill>
              </a:rPr>
              <a:t>COMPLETE </a:t>
            </a:r>
            <a:r>
              <a:rPr lang="en" sz="1700">
                <a:solidFill>
                  <a:schemeClr val="dk1"/>
                </a:solidFill>
              </a:rPr>
              <a:t>— </a:t>
            </a:r>
            <a:r>
              <a:rPr b="1" lang="en" sz="1700">
                <a:solidFill>
                  <a:srgbClr val="666666"/>
                </a:solidFill>
              </a:rPr>
              <a:t>Preliminary Benchmarking: </a:t>
            </a:r>
            <a:r>
              <a:rPr lang="en" sz="1700">
                <a:solidFill>
                  <a:srgbClr val="666666"/>
                </a:solidFill>
              </a:rPr>
              <a:t>Evaluated system performance (throughput, latency, scalability) and generate visual analysis charts</a:t>
            </a:r>
            <a:endParaRPr sz="170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Incomplete Goals and Possible Improvements</a:t>
            </a:r>
            <a:endParaRPr/>
          </a:p>
        </p:txBody>
      </p:sp>
      <p:sp>
        <p:nvSpPr>
          <p:cNvPr id="117" name="Google Shape;117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500"/>
              <a:buChar char="●"/>
            </a:pPr>
            <a:r>
              <a:rPr b="1" lang="en" sz="1500">
                <a:solidFill>
                  <a:srgbClr val="666666"/>
                </a:solidFill>
              </a:rPr>
              <a:t>POSSIBLE IMPROVEMENTS</a:t>
            </a:r>
            <a:endParaRPr b="1" sz="1500">
              <a:solidFill>
                <a:srgbClr val="666666"/>
              </a:solidFill>
            </a:endParaRPr>
          </a:p>
          <a:p>
            <a:pPr indent="-323850" lvl="0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666666"/>
              </a:buClr>
              <a:buSzPts val="1500"/>
              <a:buChar char="●"/>
            </a:pPr>
            <a:r>
              <a:rPr b="1" lang="en" sz="1500">
                <a:solidFill>
                  <a:srgbClr val="666666"/>
                </a:solidFill>
              </a:rPr>
              <a:t>Evaluate different LLMs on top of our retriever</a:t>
            </a:r>
            <a:br>
              <a:rPr b="1" lang="en" sz="1500">
                <a:solidFill>
                  <a:srgbClr val="666666"/>
                </a:solidFill>
              </a:rPr>
            </a:br>
            <a:r>
              <a:rPr lang="en" sz="1500">
                <a:solidFill>
                  <a:srgbClr val="666666"/>
                </a:solidFill>
              </a:rPr>
              <a:t>Compare end-to-end latency, cost, and answer quality when using multiple LLMs (e.g., GPT vs smaller open-source models) with the same FAISS-based retrieval layer.</a:t>
            </a:r>
            <a:endParaRPr sz="1500">
              <a:solidFill>
                <a:srgbClr val="666666"/>
              </a:solidFill>
            </a:endParaRPr>
          </a:p>
          <a:p>
            <a:pPr indent="-323850" lvl="0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666666"/>
              </a:buClr>
              <a:buSzPts val="1500"/>
              <a:buChar char="●"/>
            </a:pPr>
            <a:r>
              <a:rPr b="1" lang="en" sz="1500">
                <a:solidFill>
                  <a:srgbClr val="666666"/>
                </a:solidFill>
              </a:rPr>
              <a:t>Switch to HNSW Indexing for Higher Recall</a:t>
            </a:r>
            <a:br>
              <a:rPr b="1" lang="en" sz="1500">
                <a:solidFill>
                  <a:srgbClr val="666666"/>
                </a:solidFill>
              </a:rPr>
            </a:br>
            <a:r>
              <a:rPr lang="en" sz="1500">
                <a:solidFill>
                  <a:srgbClr val="666666"/>
                </a:solidFill>
              </a:rPr>
              <a:t>Experiment with </a:t>
            </a:r>
            <a:r>
              <a:rPr b="1" lang="en" sz="1500">
                <a:solidFill>
                  <a:srgbClr val="666666"/>
                </a:solidFill>
              </a:rPr>
              <a:t>FAISS HNSW</a:t>
            </a:r>
            <a:r>
              <a:rPr lang="en" sz="1500">
                <a:solidFill>
                  <a:srgbClr val="666666"/>
                </a:solidFill>
              </a:rPr>
              <a:t> or </a:t>
            </a:r>
            <a:r>
              <a:rPr b="1" lang="en" sz="1500">
                <a:solidFill>
                  <a:srgbClr val="666666"/>
                </a:solidFill>
              </a:rPr>
              <a:t>IVF+PQ</a:t>
            </a:r>
            <a:r>
              <a:rPr lang="en" sz="1500">
                <a:solidFill>
                  <a:srgbClr val="666666"/>
                </a:solidFill>
              </a:rPr>
              <a:t> to achieve faster searches and higher recall, especially at larger scales.</a:t>
            </a:r>
            <a:endParaRPr sz="1500">
              <a:solidFill>
                <a:srgbClr val="666666"/>
              </a:solidFill>
            </a:endParaRPr>
          </a:p>
          <a:p>
            <a:pPr indent="-323850" lvl="0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666666"/>
              </a:buClr>
              <a:buSzPts val="1500"/>
              <a:buChar char="●"/>
            </a:pPr>
            <a:r>
              <a:rPr b="1" lang="en" sz="1500">
                <a:solidFill>
                  <a:srgbClr val="666666"/>
                </a:solidFill>
              </a:rPr>
              <a:t>GPU-Accelerated Embedding &amp; Indexing</a:t>
            </a:r>
            <a:br>
              <a:rPr b="1" lang="en" sz="1500">
                <a:solidFill>
                  <a:srgbClr val="666666"/>
                </a:solidFill>
              </a:rPr>
            </a:br>
            <a:r>
              <a:rPr lang="en" sz="1500">
                <a:solidFill>
                  <a:srgbClr val="666666"/>
                </a:solidFill>
              </a:rPr>
              <a:t>Use GPU-enabled Spark or distributed PyTorch for significantly faster embedding on large corpora.</a:t>
            </a:r>
            <a:endParaRPr sz="1500">
              <a:solidFill>
                <a:srgbClr val="666666"/>
              </a:solidFill>
            </a:endParaRPr>
          </a:p>
          <a:p>
            <a:pPr indent="-323850" lvl="0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666666"/>
              </a:buClr>
              <a:buSzPts val="1500"/>
              <a:buChar char="●"/>
            </a:pPr>
            <a:r>
              <a:rPr b="1" lang="en" sz="1500">
                <a:solidFill>
                  <a:srgbClr val="666666"/>
                </a:solidFill>
              </a:rPr>
              <a:t>Move Storage to HDFS or Cloud Buckets</a:t>
            </a:r>
            <a:br>
              <a:rPr b="1" lang="en" sz="1500">
                <a:solidFill>
                  <a:srgbClr val="666666"/>
                </a:solidFill>
              </a:rPr>
            </a:br>
            <a:r>
              <a:rPr lang="en" sz="1500">
                <a:solidFill>
                  <a:srgbClr val="666666"/>
                </a:solidFill>
              </a:rPr>
              <a:t>Improve scaling by storing input/output in </a:t>
            </a:r>
            <a:r>
              <a:rPr b="1" lang="en" sz="1500">
                <a:solidFill>
                  <a:srgbClr val="666666"/>
                </a:solidFill>
              </a:rPr>
              <a:t>HDFS</a:t>
            </a:r>
            <a:r>
              <a:rPr lang="en" sz="1500">
                <a:solidFill>
                  <a:srgbClr val="666666"/>
                </a:solidFill>
              </a:rPr>
              <a:t> or </a:t>
            </a:r>
            <a:r>
              <a:rPr b="1" lang="en" sz="1500">
                <a:solidFill>
                  <a:srgbClr val="666666"/>
                </a:solidFill>
              </a:rPr>
              <a:t>GCS</a:t>
            </a:r>
            <a:r>
              <a:rPr lang="en" sz="1500">
                <a:solidFill>
                  <a:srgbClr val="666666"/>
                </a:solidFill>
              </a:rPr>
              <a:t>, enabling multiple compute nodes to ingest data in parallel.</a:t>
            </a:r>
            <a:endParaRPr sz="1500">
              <a:solidFill>
                <a:srgbClr val="666666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1271">
              <a:solidFill>
                <a:srgbClr val="666666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605"/>
              <a:buNone/>
            </a:pPr>
            <a:r>
              <a:t/>
            </a:r>
            <a:endParaRPr sz="129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